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CED871-4348-47B5-8A9B-1F0C65910778}" v="3" dt="2026-05-26T18:04:55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90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linsu Kahraman" userId="93a91c9eb288e10d" providerId="LiveId" clId="{A0683178-86E4-457C-A301-7E557660FC6F}"/>
    <pc:docChg chg="undo custSel modSld">
      <pc:chgData name="Pelinsu Kahraman" userId="93a91c9eb288e10d" providerId="LiveId" clId="{A0683178-86E4-457C-A301-7E557660FC6F}" dt="2026-05-26T18:47:15.809" v="218" actId="20577"/>
      <pc:docMkLst>
        <pc:docMk/>
      </pc:docMkLst>
      <pc:sldChg chg="modSp mod">
        <pc:chgData name="Pelinsu Kahraman" userId="93a91c9eb288e10d" providerId="LiveId" clId="{A0683178-86E4-457C-A301-7E557660FC6F}" dt="2026-05-26T18:47:15.809" v="218" actId="20577"/>
        <pc:sldMkLst>
          <pc:docMk/>
          <pc:sldMk cId="0" sldId="256"/>
        </pc:sldMkLst>
        <pc:spChg chg="mod">
          <ac:chgData name="Pelinsu Kahraman" userId="93a91c9eb288e10d" providerId="LiveId" clId="{A0683178-86E4-457C-A301-7E557660FC6F}" dt="2026-05-26T18:05:25.660" v="3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4:28.195" v="60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47:15.809" v="218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05:34.251" v="2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05:25.660" v="3" actId="20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Pelinsu Kahraman" userId="93a91c9eb288e10d" providerId="LiveId" clId="{A0683178-86E4-457C-A301-7E557660FC6F}" dt="2026-05-26T18:16:19.170" v="78" actId="207"/>
        <pc:sldMkLst>
          <pc:docMk/>
          <pc:sldMk cId="0" sldId="257"/>
        </pc:sldMkLst>
        <pc:spChg chg="mod">
          <ac:chgData name="Pelinsu Kahraman" userId="93a91c9eb288e10d" providerId="LiveId" clId="{A0683178-86E4-457C-A301-7E557660FC6F}" dt="2026-05-26T18:14:34.326" v="61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4:38.800" v="62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6:14.675" v="76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4:45.165" v="63" actId="207"/>
          <ac:spMkLst>
            <pc:docMk/>
            <pc:sldMk cId="0" sldId="257"/>
            <ac:spMk id="6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5:01.854" v="65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6:19.170" v="78" actId="207"/>
          <ac:spMkLst>
            <pc:docMk/>
            <pc:sldMk cId="0" sldId="257"/>
            <ac:spMk id="8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4:50.260" v="64" actId="20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Pelinsu Kahraman" userId="93a91c9eb288e10d" providerId="LiveId" clId="{A0683178-86E4-457C-A301-7E557660FC6F}" dt="2026-05-26T18:15:41.303" v="70" actId="207"/>
        <pc:sldMkLst>
          <pc:docMk/>
          <pc:sldMk cId="0" sldId="258"/>
        </pc:sldMkLst>
        <pc:spChg chg="mod">
          <ac:chgData name="Pelinsu Kahraman" userId="93a91c9eb288e10d" providerId="LiveId" clId="{A0683178-86E4-457C-A301-7E557660FC6F}" dt="2026-05-26T18:15:34.822" v="69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5:29.964" v="68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5:09.129" v="66" actId="207"/>
          <ac:spMkLst>
            <pc:docMk/>
            <pc:sldMk cId="0" sldId="258"/>
            <ac:spMk id="4" creationId="{00000000-0000-0000-0000-000000000000}"/>
          </ac:spMkLst>
        </pc:spChg>
        <pc:graphicFrameChg chg="modGraphic">
          <ac:chgData name="Pelinsu Kahraman" userId="93a91c9eb288e10d" providerId="LiveId" clId="{A0683178-86E4-457C-A301-7E557660FC6F}" dt="2026-05-26T18:15:41.303" v="70" actId="207"/>
          <ac:graphicFrameMkLst>
            <pc:docMk/>
            <pc:sldMk cId="0" sldId="258"/>
            <ac:graphicFrameMk id="5" creationId="{00000000-0000-0000-0000-000000000000}"/>
          </ac:graphicFrameMkLst>
        </pc:graphicFrameChg>
      </pc:sldChg>
      <pc:sldChg chg="modSp mod">
        <pc:chgData name="Pelinsu Kahraman" userId="93a91c9eb288e10d" providerId="LiveId" clId="{A0683178-86E4-457C-A301-7E557660FC6F}" dt="2026-05-26T18:16:44.446" v="81" actId="207"/>
        <pc:sldMkLst>
          <pc:docMk/>
          <pc:sldMk cId="0" sldId="259"/>
        </pc:sldMkLst>
        <pc:spChg chg="mod">
          <ac:chgData name="Pelinsu Kahraman" userId="93a91c9eb288e10d" providerId="LiveId" clId="{A0683178-86E4-457C-A301-7E557660FC6F}" dt="2026-05-26T18:16:29.984" v="79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6:34.674" v="80" actId="207"/>
          <ac:spMkLst>
            <pc:docMk/>
            <pc:sldMk cId="0" sldId="259"/>
            <ac:spMk id="3" creationId="{00000000-0000-0000-0000-000000000000}"/>
          </ac:spMkLst>
        </pc:spChg>
        <pc:graphicFrameChg chg="modGraphic">
          <ac:chgData name="Pelinsu Kahraman" userId="93a91c9eb288e10d" providerId="LiveId" clId="{A0683178-86E4-457C-A301-7E557660FC6F}" dt="2026-05-26T18:16:44.446" v="81" actId="20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Pelinsu Kahraman" userId="93a91c9eb288e10d" providerId="LiveId" clId="{A0683178-86E4-457C-A301-7E557660FC6F}" dt="2026-05-26T18:18:13.899" v="96" actId="207"/>
        <pc:sldMkLst>
          <pc:docMk/>
          <pc:sldMk cId="0" sldId="260"/>
        </pc:sldMkLst>
        <pc:spChg chg="mod">
          <ac:chgData name="Pelinsu Kahraman" userId="93a91c9eb288e10d" providerId="LiveId" clId="{A0683178-86E4-457C-A301-7E557660FC6F}" dt="2026-05-26T18:17:28.502" v="82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7:32.987" v="83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8:08.051" v="93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7:38.367" v="84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8:13.899" v="96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7:46.806" v="85" actId="20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Pelinsu Kahraman" userId="93a91c9eb288e10d" providerId="LiveId" clId="{A0683178-86E4-457C-A301-7E557660FC6F}" dt="2026-05-26T18:19:37.262" v="104" actId="207"/>
        <pc:sldMkLst>
          <pc:docMk/>
          <pc:sldMk cId="0" sldId="261"/>
        </pc:sldMkLst>
        <pc:spChg chg="mod">
          <ac:chgData name="Pelinsu Kahraman" userId="93a91c9eb288e10d" providerId="LiveId" clId="{A0683178-86E4-457C-A301-7E557660FC6F}" dt="2026-05-26T18:18:23.920" v="97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8:49.538" v="99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9:23.831" v="103" actId="207"/>
          <ac:spMkLst>
            <pc:docMk/>
            <pc:sldMk cId="0" sldId="261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9:37.262" v="104" actId="207"/>
          <ac:spMkLst>
            <pc:docMk/>
            <pc:sldMk cId="0" sldId="261"/>
            <ac:spMk id="6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8:41.446" v="98" actId="207"/>
          <ac:spMkLst>
            <pc:docMk/>
            <pc:sldMk cId="0" sldId="261"/>
            <ac:spMk id="8" creationId="{00000000-0000-0000-0000-000000000000}"/>
          </ac:spMkLst>
        </pc:spChg>
        <pc:graphicFrameChg chg="modGraphic">
          <ac:chgData name="Pelinsu Kahraman" userId="93a91c9eb288e10d" providerId="LiveId" clId="{A0683178-86E4-457C-A301-7E557660FC6F}" dt="2026-05-26T18:18:56.853" v="100" actId="20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">
        <pc:chgData name="Pelinsu Kahraman" userId="93a91c9eb288e10d" providerId="LiveId" clId="{A0683178-86E4-457C-A301-7E557660FC6F}" dt="2026-05-26T18:20:07.330" v="109" actId="207"/>
        <pc:sldMkLst>
          <pc:docMk/>
          <pc:sldMk cId="0" sldId="262"/>
        </pc:sldMkLst>
        <pc:spChg chg="mod">
          <ac:chgData name="Pelinsu Kahraman" userId="93a91c9eb288e10d" providerId="LiveId" clId="{A0683178-86E4-457C-A301-7E557660FC6F}" dt="2026-05-26T18:19:46.773" v="105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19:51.489" v="106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0:07.330" v="109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0:01.409" v="108" actId="207"/>
          <ac:spMkLst>
            <pc:docMk/>
            <pc:sldMk cId="0" sldId="262"/>
            <ac:spMk id="7" creationId="{00000000-0000-0000-0000-000000000000}"/>
          </ac:spMkLst>
        </pc:spChg>
        <pc:graphicFrameChg chg="modGraphic">
          <ac:chgData name="Pelinsu Kahraman" userId="93a91c9eb288e10d" providerId="LiveId" clId="{A0683178-86E4-457C-A301-7E557660FC6F}" dt="2026-05-26T18:19:57.559" v="107" actId="207"/>
          <ac:graphicFrameMkLst>
            <pc:docMk/>
            <pc:sldMk cId="0" sldId="262"/>
            <ac:graphicFrameMk id="5" creationId="{00000000-0000-0000-0000-000000000000}"/>
          </ac:graphicFrameMkLst>
        </pc:graphicFrameChg>
      </pc:sldChg>
      <pc:sldChg chg="modSp mod">
        <pc:chgData name="Pelinsu Kahraman" userId="93a91c9eb288e10d" providerId="LiveId" clId="{A0683178-86E4-457C-A301-7E557660FC6F}" dt="2026-05-26T18:22:13.635" v="122" actId="1076"/>
        <pc:sldMkLst>
          <pc:docMk/>
          <pc:sldMk cId="0" sldId="263"/>
        </pc:sldMkLst>
        <pc:spChg chg="mod">
          <ac:chgData name="Pelinsu Kahraman" userId="93a91c9eb288e10d" providerId="LiveId" clId="{A0683178-86E4-457C-A301-7E557660FC6F}" dt="2026-05-26T18:20:19.226" v="110" actId="207"/>
          <ac:spMkLst>
            <pc:docMk/>
            <pc:sldMk cId="0" sldId="263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0:28.211" v="111" actId="207"/>
          <ac:spMkLst>
            <pc:docMk/>
            <pc:sldMk cId="0" sldId="263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1:00.535" v="116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0:34.986" v="112" actId="207"/>
          <ac:spMkLst>
            <pc:docMk/>
            <pc:sldMk cId="0" sldId="263"/>
            <ac:spMk id="6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2:13.635" v="12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2:08.832" v="121" actId="207"/>
          <ac:spMkLst>
            <pc:docMk/>
            <pc:sldMk cId="0" sldId="263"/>
            <ac:spMk id="9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1:29.502" v="119" actId="207"/>
          <ac:spMkLst>
            <pc:docMk/>
            <pc:sldMk cId="0" sldId="263"/>
            <ac:spMk id="11" creationId="{00000000-0000-0000-0000-000000000000}"/>
          </ac:spMkLst>
        </pc:spChg>
        <pc:graphicFrameChg chg="modGraphic">
          <ac:chgData name="Pelinsu Kahraman" userId="93a91c9eb288e10d" providerId="LiveId" clId="{A0683178-86E4-457C-A301-7E557660FC6F}" dt="2026-05-26T18:21:21.059" v="118" actId="207"/>
          <ac:graphicFrameMkLst>
            <pc:docMk/>
            <pc:sldMk cId="0" sldId="263"/>
            <ac:graphicFrameMk id="10" creationId="{00000000-0000-0000-0000-000000000000}"/>
          </ac:graphicFrameMkLst>
        </pc:graphicFrameChg>
      </pc:sldChg>
      <pc:sldChg chg="modSp mod">
        <pc:chgData name="Pelinsu Kahraman" userId="93a91c9eb288e10d" providerId="LiveId" clId="{A0683178-86E4-457C-A301-7E557660FC6F}" dt="2026-05-26T18:46:49.757" v="212" actId="207"/>
        <pc:sldMkLst>
          <pc:docMk/>
          <pc:sldMk cId="0" sldId="264"/>
        </pc:sldMkLst>
        <pc:spChg chg="mod">
          <ac:chgData name="Pelinsu Kahraman" userId="93a91c9eb288e10d" providerId="LiveId" clId="{A0683178-86E4-457C-A301-7E557660FC6F}" dt="2026-05-26T18:23:01.607" v="172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3:05.949" v="173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3:24.944" v="176" actId="207"/>
          <ac:spMkLst>
            <pc:docMk/>
            <pc:sldMk cId="0" sldId="264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3:10.166" v="174" actId="207"/>
          <ac:spMkLst>
            <pc:docMk/>
            <pc:sldMk cId="0" sldId="264"/>
            <ac:spMk id="6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3:30.067" v="177" actId="207"/>
          <ac:spMkLst>
            <pc:docMk/>
            <pc:sldMk cId="0" sldId="264"/>
            <ac:spMk id="8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3:14.891" v="175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5:06.202" v="197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5:06.664" v="198" actId="14100"/>
          <ac:spMkLst>
            <pc:docMk/>
            <pc:sldMk cId="0" sldId="264"/>
            <ac:spMk id="11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46:49.757" v="212" actId="207"/>
          <ac:spMkLst>
            <pc:docMk/>
            <pc:sldMk cId="0" sldId="264"/>
            <ac:spMk id="12" creationId="{00000000-0000-0000-0000-000000000000}"/>
          </ac:spMkLst>
        </pc:spChg>
        <pc:graphicFrameChg chg="mod modGraphic">
          <ac:chgData name="Pelinsu Kahraman" userId="93a91c9eb288e10d" providerId="LiveId" clId="{A0683178-86E4-457C-A301-7E557660FC6F}" dt="2026-05-26T18:25:05.724" v="196" actId="14100"/>
          <ac:graphicFrameMkLst>
            <pc:docMk/>
            <pc:sldMk cId="0" sldId="264"/>
            <ac:graphicFrameMk id="13" creationId="{00000000-0000-0000-0000-000000000000}"/>
          </ac:graphicFrameMkLst>
        </pc:graphicFrameChg>
      </pc:sldChg>
      <pc:sldChg chg="modSp mod">
        <pc:chgData name="Pelinsu Kahraman" userId="93a91c9eb288e10d" providerId="LiveId" clId="{A0683178-86E4-457C-A301-7E557660FC6F}" dt="2026-05-26T18:46:33.485" v="211" actId="207"/>
        <pc:sldMkLst>
          <pc:docMk/>
          <pc:sldMk cId="0" sldId="265"/>
        </pc:sldMkLst>
        <pc:spChg chg="mod">
          <ac:chgData name="Pelinsu Kahraman" userId="93a91c9eb288e10d" providerId="LiveId" clId="{A0683178-86E4-457C-A301-7E557660FC6F}" dt="2026-05-26T18:24:24.486" v="189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4:29.308" v="190" actId="207"/>
          <ac:spMkLst>
            <pc:docMk/>
            <pc:sldMk cId="0" sldId="265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5:41.341" v="203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45:59.285" v="205" actId="207"/>
          <ac:spMkLst>
            <pc:docMk/>
            <pc:sldMk cId="0" sldId="265"/>
            <ac:spMk id="6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46:18.705" v="210" actId="207"/>
          <ac:spMkLst>
            <pc:docMk/>
            <pc:sldMk cId="0" sldId="265"/>
            <ac:spMk id="7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5:45.391" v="204" actId="207"/>
          <ac:spMkLst>
            <pc:docMk/>
            <pc:sldMk cId="0" sldId="265"/>
            <ac:spMk id="8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46:33.485" v="211" actId="207"/>
          <ac:spMkLst>
            <pc:docMk/>
            <pc:sldMk cId="0" sldId="265"/>
            <ac:spMk id="9" creationId="{00000000-0000-0000-0000-000000000000}"/>
          </ac:spMkLst>
        </pc:spChg>
      </pc:sldChg>
      <pc:sldChg chg="modSp mod">
        <pc:chgData name="Pelinsu Kahraman" userId="93a91c9eb288e10d" providerId="LiveId" clId="{A0683178-86E4-457C-A301-7E557660FC6F}" dt="2026-05-26T18:25:27.858" v="202" actId="207"/>
        <pc:sldMkLst>
          <pc:docMk/>
          <pc:sldMk cId="0" sldId="266"/>
        </pc:sldMkLst>
        <pc:spChg chg="mod">
          <ac:chgData name="Pelinsu Kahraman" userId="93a91c9eb288e10d" providerId="LiveId" clId="{A0683178-86E4-457C-A301-7E557660FC6F}" dt="2026-05-26T18:24:35.847" v="191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4:42.896" v="192" actId="207"/>
          <ac:spMkLst>
            <pc:docMk/>
            <pc:sldMk cId="0" sldId="266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5:27.858" v="202" actId="207"/>
          <ac:spMkLst>
            <pc:docMk/>
            <pc:sldMk cId="0" sldId="266"/>
            <ac:spMk id="6" creationId="{00000000-0000-0000-0000-000000000000}"/>
          </ac:spMkLst>
        </pc:spChg>
        <pc:graphicFrameChg chg="modGraphic">
          <ac:chgData name="Pelinsu Kahraman" userId="93a91c9eb288e10d" providerId="LiveId" clId="{A0683178-86E4-457C-A301-7E557660FC6F}" dt="2026-05-26T18:25:14.429" v="199" actId="207"/>
          <ac:graphicFrameMkLst>
            <pc:docMk/>
            <pc:sldMk cId="0" sldId="266"/>
            <ac:graphicFrameMk id="5" creationId="{00000000-0000-0000-0000-000000000000}"/>
          </ac:graphicFrameMkLst>
        </pc:graphicFrameChg>
      </pc:sldChg>
      <pc:sldChg chg="modSp mod">
        <pc:chgData name="Pelinsu Kahraman" userId="93a91c9eb288e10d" providerId="LiveId" clId="{A0683178-86E4-457C-A301-7E557660FC6F}" dt="2026-05-26T18:22:55.399" v="171" actId="20577"/>
        <pc:sldMkLst>
          <pc:docMk/>
          <pc:sldMk cId="0" sldId="267"/>
        </pc:sldMkLst>
        <pc:spChg chg="mod">
          <ac:chgData name="Pelinsu Kahraman" userId="93a91c9eb288e10d" providerId="LiveId" clId="{A0683178-86E4-457C-A301-7E557660FC6F}" dt="2026-05-26T18:22:27.499" v="123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2:36.278" v="125" actId="207"/>
          <ac:spMkLst>
            <pc:docMk/>
            <pc:sldMk cId="0" sldId="267"/>
            <ac:spMk id="3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2:45.459" v="15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Pelinsu Kahraman" userId="93a91c9eb288e10d" providerId="LiveId" clId="{A0683178-86E4-457C-A301-7E557660FC6F}" dt="2026-05-26T18:22:55.399" v="171" actId="20577"/>
          <ac:spMkLst>
            <pc:docMk/>
            <pc:sldMk cId="0" sldId="267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55CCFD-FBE7-4FFE-1E7C-8D787E183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603" y="1122363"/>
            <a:ext cx="9141619" cy="2387600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86621A2-1E08-F0AB-02A5-314F16672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603" y="3602038"/>
            <a:ext cx="9141619" cy="1655762"/>
          </a:xfrm>
        </p:spPr>
        <p:txBody>
          <a:bodyPr/>
          <a:lstStyle>
            <a:lvl1pPr marL="0" indent="0" algn="ctr">
              <a:buNone/>
              <a:defRPr sz="2399"/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A71983B-50AC-DFDA-773E-3B88929D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5E69238-AF60-8144-30FB-277C0261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414991A-2F7E-1091-322B-ED5C9D02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34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E2A037-3D9C-DADC-362B-5BE3C10E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C8520BB-DCFE-C1F2-56D0-7E3D93ADB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915835-F5CB-BB7B-D434-ED34E780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617AC4-52E8-F485-A2B5-DA8D8E6C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9047418-27BB-2797-D101-8666B66D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9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167643B-38D1-DB46-DFFE-9AD02CBC8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33" y="1709739"/>
            <a:ext cx="10512862" cy="2852737"/>
          </a:xfrm>
        </p:spPr>
        <p:txBody>
          <a:bodyPr anchor="b"/>
          <a:lstStyle>
            <a:lvl1pPr>
              <a:defRPr sz="5998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C3B5DF8-8F20-F045-5C2D-56547C3EF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633" y="4589464"/>
            <a:ext cx="10512862" cy="1500187"/>
          </a:xfrm>
        </p:spPr>
        <p:txBody>
          <a:bodyPr/>
          <a:lstStyle>
            <a:lvl1pPr marL="0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9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D2607B7-113C-0EEA-3B17-A26212D0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693F442-38AD-8581-BDF2-4F8D5F83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29528E-8B11-46CA-E305-88A6659F1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2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C9C783-A8FA-9D0C-49E5-5DD14226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63F8AA8-B1C2-33D3-4A1D-9748E2BBE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982" y="1825625"/>
            <a:ext cx="5180251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4643113-6515-FB46-7803-A2A040B1C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2" y="1825625"/>
            <a:ext cx="5180251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13191F6-1530-ADEF-88D1-6A2A47291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38D1F9C-84B3-7CCE-085B-1B2F8119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68BA8A7-5E41-80D4-7D7D-1A8090FCF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BF1CB10-15AA-21A1-F63C-9949A8A63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8ADF2F4-9172-40DC-4000-A311F0E0A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7F93DF2-61AB-AFD7-9E07-1E75047DB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10D8006-C54E-C435-E50A-6A492DC3F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E2EDF05F-1BC1-0FBE-BEE2-07AECEA5B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1B5D35CD-16F3-3CE0-E0AA-32E5C7EF1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AFC95E56-B403-8456-D16E-C156DE18E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2C6FAC7A-BCF2-E2FA-649B-0E6AF2C7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DD4D9B9-A067-777F-17E6-5718FD009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5A44C69-3C58-87BE-AE8E-1906F8FA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7892301-A4CB-3743-8425-56E2F74A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2A1F4E6-8534-0A9F-6E40-AB0C5D82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58C4F57-24FD-B51C-7766-6BFF0859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214C3921-3151-6CB2-A409-1EA004FE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4B4B3F7-58BB-A649-F6FC-8E0147C27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3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C5761B6-30DD-DF67-14D2-CEBD25C16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196FAB-42ED-4943-4B87-7942C520A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>
              <a:defRPr sz="3199"/>
            </a:lvl1pPr>
            <a:lvl2pPr>
              <a:defRPr sz="2799"/>
            </a:lvl2pPr>
            <a:lvl3pPr>
              <a:defRPr sz="2399"/>
            </a:lvl3pPr>
            <a:lvl4pPr>
              <a:defRPr sz="1999"/>
            </a:lvl4pPr>
            <a:lvl5pPr>
              <a:defRPr sz="1999"/>
            </a:lvl5pPr>
            <a:lvl6pPr>
              <a:defRPr sz="1999"/>
            </a:lvl6pPr>
            <a:lvl7pPr>
              <a:defRPr sz="1999"/>
            </a:lvl7pPr>
            <a:lvl8pPr>
              <a:defRPr sz="1999"/>
            </a:lvl8pPr>
            <a:lvl9pPr>
              <a:defRPr sz="1999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D75DE0E-6E2C-C43A-026E-ADCC65970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CF94F5B-B5BB-D202-658F-13B6789B3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372CA466-7D26-49C9-2613-7BFECAE1F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23E1351-5F4B-D9DC-E882-3430F9F0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5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89F7FA-5428-DCA5-26EC-0FF2E8E9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70" y="457200"/>
            <a:ext cx="3931213" cy="1600200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1E0BBC4B-6A69-A612-F034-6C806E4246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838" y="987426"/>
            <a:ext cx="6170593" cy="4873625"/>
          </a:xfrm>
        </p:spPr>
        <p:txBody>
          <a:bodyPr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EA238D88-3F2B-9818-4976-8ECA68DF4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570" y="2057400"/>
            <a:ext cx="393121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CBDC27B-7D77-2025-9BB9-72D27B33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576682A-4A5B-F1C0-15B4-FF86F4B9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63A7D67-5B01-AAF1-56A0-34995A39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19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3CC9A9-2E09-7014-5925-EAA7D2244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FA86CF5-A1A2-DB23-B2F8-19ED75A190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89D6C5-3253-2B4E-64A3-BF73C75BC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6208857-0418-8350-4EEE-02D49A7F0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2E0ABE0-FD15-F1DF-E607-CB56DEB7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795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1E48A5D-BD25-D09C-F416-6A0CA372D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2628" y="365125"/>
            <a:ext cx="2628215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A29A2E7-DDCF-8A2B-57AF-FCC044466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982" y="365125"/>
            <a:ext cx="7732286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43AA2C1-2A5D-CFC2-FD8D-0AA5AE01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9067E05-7C06-D575-04A3-3054252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7A92F01-FB70-3B42-19D9-748359D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3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4C1024FA-ACE7-F7AF-58C4-A1A094EE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286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B1025B2-B5D6-55A1-B9A3-CE8B49B55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982" y="1825625"/>
            <a:ext cx="105128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32DFCB7-8935-35B9-CFA6-7C5504D34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982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BE58026-2007-AC20-D955-62FB357E8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549" y="6356351"/>
            <a:ext cx="4113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0D4C1B9-A17D-D0D8-0961-3D68F0B2E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357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2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3800" b="1" i="0"/>
              <a:t>32BIT</a:t>
            </a:r>
          </a:p>
          <a:p>
            <a:pPr algn="ctr"/>
            <a:r>
              <a:rPr sz="3800" b="1" i="0" dirty="0" err="1"/>
              <a:t>Finansal</a:t>
            </a:r>
            <a:r>
              <a:rPr sz="3800" b="1" i="0" dirty="0"/>
              <a:t> </a:t>
            </a:r>
            <a:r>
              <a:rPr sz="3800" b="1" i="0" dirty="0" err="1"/>
              <a:t>Portalı</a:t>
            </a:r>
            <a:endParaRPr sz="3800" b="1" i="0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/>
              <a:t>Sakarya </a:t>
            </a:r>
            <a:r>
              <a:rPr sz="2000" b="0" i="0" dirty="0" err="1"/>
              <a:t>Üniversitesi</a:t>
            </a:r>
            <a:r>
              <a:rPr lang="tr-TR" sz="2000" dirty="0"/>
              <a:t> </a:t>
            </a:r>
            <a:r>
              <a:rPr sz="2000" b="0" i="0" dirty="0"/>
              <a:t>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/>
              <a:t>Pelinsu Kahraman   |   Toyota Türkiye   |   Mayıs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 Amacı &amp; Kişisel Bilgiler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/>
              <a:t>Kişisel</a:t>
            </a:r>
            <a:r>
              <a:rPr sz="1500" b="1" i="0" dirty="0">
                <a:solidFill>
                  <a:srgbClr val="1F3964"/>
                </a:solidFill>
              </a:rPr>
              <a:t> </a:t>
            </a:r>
            <a:r>
              <a:rPr sz="1500" b="1" i="0" dirty="0" err="1"/>
              <a:t>Bilgiler</a:t>
            </a:r>
            <a:endParaRPr sz="1500" b="1" i="0" dirty="0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02920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404040"/>
                </a:solidFill>
              </a:rPr>
              <a:t>  •  Ad Soyad: Pelinsu Kahraman</a:t>
            </a:r>
          </a:p>
          <a:p>
            <a:r>
              <a:rPr sz="1500" dirty="0">
                <a:solidFill>
                  <a:srgbClr val="404040"/>
                </a:solidFill>
              </a:rPr>
              <a:t>  •  </a:t>
            </a:r>
            <a:r>
              <a:rPr sz="1500" dirty="0" err="1">
                <a:solidFill>
                  <a:srgbClr val="404040"/>
                </a:solidFill>
              </a:rPr>
              <a:t>Öğrenci</a:t>
            </a:r>
            <a:r>
              <a:rPr sz="1500" dirty="0">
                <a:solidFill>
                  <a:srgbClr val="404040"/>
                </a:solidFill>
              </a:rPr>
              <a:t> No: B</a:t>
            </a:r>
            <a:r>
              <a:rPr lang="tr-TR" sz="1500" dirty="0">
                <a:solidFill>
                  <a:srgbClr val="404040"/>
                </a:solidFill>
              </a:rPr>
              <a:t>241210104</a:t>
            </a:r>
            <a:endParaRPr sz="1500" dirty="0">
              <a:solidFill>
                <a:srgbClr val="404040"/>
              </a:solidFill>
            </a:endParaRPr>
          </a:p>
          <a:p>
            <a:r>
              <a:rPr sz="1500" dirty="0">
                <a:solidFill>
                  <a:srgbClr val="404040"/>
                </a:solidFill>
              </a:rPr>
              <a:t>  •  </a:t>
            </a:r>
            <a:r>
              <a:rPr sz="1500" dirty="0" err="1">
                <a:solidFill>
                  <a:srgbClr val="404040"/>
                </a:solidFill>
              </a:rPr>
              <a:t>Bölüm</a:t>
            </a:r>
            <a:r>
              <a:rPr sz="1500" dirty="0">
                <a:solidFill>
                  <a:srgbClr val="404040"/>
                </a:solidFill>
              </a:rPr>
              <a:t>: </a:t>
            </a:r>
            <a:r>
              <a:rPr sz="1500" dirty="0" err="1">
                <a:solidFill>
                  <a:srgbClr val="404040"/>
                </a:solidFill>
              </a:rPr>
              <a:t>Bilgisayar</a:t>
            </a:r>
            <a:r>
              <a:rPr sz="1500" dirty="0">
                <a:solidFill>
                  <a:srgbClr val="404040"/>
                </a:solidFill>
              </a:rPr>
              <a:t> </a:t>
            </a:r>
            <a:r>
              <a:rPr sz="1500" dirty="0" err="1">
                <a:solidFill>
                  <a:srgbClr val="404040"/>
                </a:solidFill>
              </a:rPr>
              <a:t>Mühendisliği</a:t>
            </a:r>
            <a:endParaRPr sz="1500" dirty="0">
              <a:solidFill>
                <a:srgbClr val="404040"/>
              </a:solidFill>
            </a:endParaRPr>
          </a:p>
          <a:p>
            <a:r>
              <a:rPr sz="1500" dirty="0">
                <a:solidFill>
                  <a:srgbClr val="404040"/>
                </a:solidFill>
              </a:rPr>
              <a:t>  •  </a:t>
            </a:r>
            <a:r>
              <a:rPr sz="1500" dirty="0" err="1">
                <a:solidFill>
                  <a:srgbClr val="404040"/>
                </a:solidFill>
              </a:rPr>
              <a:t>Üniversite</a:t>
            </a:r>
            <a:r>
              <a:rPr sz="1500" dirty="0">
                <a:solidFill>
                  <a:srgbClr val="404040"/>
                </a:solidFill>
              </a:rPr>
              <a:t>: Sakarya </a:t>
            </a:r>
            <a:r>
              <a:rPr sz="1500" dirty="0" err="1">
                <a:solidFill>
                  <a:srgbClr val="404040"/>
                </a:solidFill>
              </a:rPr>
              <a:t>Üniversitesi</a:t>
            </a:r>
            <a:endParaRPr sz="1500" dirty="0">
              <a:solidFill>
                <a:srgbClr val="40404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0720" y="1143000"/>
            <a:ext cx="60350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 err="1"/>
              <a:t>Proje</a:t>
            </a:r>
            <a:r>
              <a:rPr sz="1500" b="1" i="0" dirty="0">
                <a:solidFill>
                  <a:srgbClr val="1F3964"/>
                </a:solidFill>
              </a:rPr>
              <a:t> </a:t>
            </a:r>
            <a:r>
              <a:rPr sz="1500" b="1" i="0" dirty="0" err="1"/>
              <a:t>Amacı</a:t>
            </a:r>
            <a:endParaRPr sz="1500" b="1" i="0" dirty="0"/>
          </a:p>
        </p:txBody>
      </p:sp>
      <p:sp>
        <p:nvSpPr>
          <p:cNvPr id="9" name="Rectangle 8"/>
          <p:cNvSpPr/>
          <p:nvPr/>
        </p:nvSpPr>
        <p:spPr>
          <a:xfrm>
            <a:off x="5760720" y="1508760"/>
            <a:ext cx="603504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1600200"/>
            <a:ext cx="6035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04040"/>
                </a:solidFill>
              </a:rPr>
              <a:t>  •  Türk yatırımcılar için gerçek zamanlı finansal</a:t>
            </a:r>
          </a:p>
          <a:p>
            <a:r>
              <a:rPr sz="1500">
                <a:solidFill>
                  <a:srgbClr val="404040"/>
                </a:solidFill>
              </a:rPr>
              <a:t>  veri izleme ve analiz platformu</a:t>
            </a:r>
          </a:p>
          <a:p>
            <a:r>
              <a:rPr sz="1500">
                <a:solidFill>
                  <a:srgbClr val="404040"/>
                </a:solidFill>
              </a:rPr>
              <a:t>  •  Hisse, döviz, kripto para takibi</a:t>
            </a:r>
          </a:p>
          <a:p>
            <a:r>
              <a:rPr sz="1500">
                <a:solidFill>
                  <a:srgbClr val="404040"/>
                </a:solidFill>
              </a:rPr>
              <a:t>  •  Yapay zeka destekli piyasa yorumu</a:t>
            </a:r>
          </a:p>
          <a:p>
            <a:r>
              <a:rPr sz="1500">
                <a:solidFill>
                  <a:srgbClr val="404040"/>
                </a:solidFill>
              </a:rPr>
              <a:t>  •  Kişisel portföy yönetimi ve analizi</a:t>
            </a:r>
          </a:p>
          <a:p>
            <a:r>
              <a:rPr sz="1500">
                <a:solidFill>
                  <a:srgbClr val="404040"/>
                </a:solidFill>
              </a:rPr>
              <a:t>  •  Güvenli kimlik doğrulama (Keycloak / 2FA)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Sistem Mimarisi — Docker Compose (13 Servis)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634320"/>
              </p:ext>
            </p:extLst>
          </p:nvPr>
        </p:nvGraphicFramePr>
        <p:xfrm>
          <a:off x="411480" y="1188720"/>
          <a:ext cx="113385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Servis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Teknoloji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 /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Sürüm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Görev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React 19 + Nginx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3000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Kullanıcı arayüzü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Spring Boot 3.2.5 / Java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8080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REST API katmanı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Keycloak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Keycloak 24.0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8180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Kimlik doğrulama &amp; OAuth2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PostgreSQL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5434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Ana veritabanı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Redis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Redis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6379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Önbellekleme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Kafka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Apache Kafka 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9092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Log akışı &amp; mesajlaşma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OpenSearch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OpenSearch 2.12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9200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Log arama &amp; analitik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Prometheus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Prometheus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9090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Metrik toplama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Grafana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Grafana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3001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İzleme panosu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Zookeeper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Zookeeper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2181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404040"/>
                          </a:solidFill>
                        </a:rPr>
                        <a:t>Kafka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koordinasyon</a:t>
                      </a:r>
                      <a:endParaRPr sz="12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</a:rPr>
              <a:t>Kullanılan</a:t>
            </a:r>
            <a:r>
              <a:rPr sz="2400" b="1" i="0" dirty="0">
                <a:solidFill>
                  <a:srgbClr val="FFFFFF"/>
                </a:solidFill>
              </a:rPr>
              <a:t> </a:t>
            </a:r>
            <a:r>
              <a:rPr sz="2400" b="1" i="0" dirty="0" err="1">
                <a:solidFill>
                  <a:srgbClr val="FFFFFF"/>
                </a:solidFill>
              </a:rPr>
              <a:t>Teknoloji</a:t>
            </a:r>
            <a:r>
              <a:rPr sz="2400" b="1" i="0" dirty="0">
                <a:solidFill>
                  <a:srgbClr val="FFFFFF"/>
                </a:solidFill>
              </a:rPr>
              <a:t> </a:t>
            </a:r>
            <a:r>
              <a:rPr sz="2400" b="1" i="0" dirty="0" err="1">
                <a:solidFill>
                  <a:srgbClr val="FFFFFF"/>
                </a:solidFill>
              </a:rPr>
              <a:t>Yığını</a:t>
            </a:r>
            <a:endParaRPr sz="2400" b="1" i="0" dirty="0">
              <a:solidFill>
                <a:srgbClr val="FFFFFF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37440"/>
              </p:ext>
            </p:extLst>
          </p:nvPr>
        </p:nvGraphicFramePr>
        <p:xfrm>
          <a:off x="411480" y="1188720"/>
          <a:ext cx="1133856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Katman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Teknoloji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Versiyon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 /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Detay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React + TypeScript + Vite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React 19, Vite 5, Tailwind CSS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Recharts + Lucide Icons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Grafik kütüphanesi + ikon seti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Frontend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React Router + Keycloak-JS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Sayfa yönlendirme + auth entegrasyonu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Spring Boot + Java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3.2.5 / Java 21 (LTS)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Spring Security + JWT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OAuth2 Resource Server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Spring Data JPA + Flyway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ORM + DB migrasyon yönetimi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Veritabanı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PostgreSQL + Redis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Ana DB + önbellekleme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Mesajlaşma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Apache Kafka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Asenkron log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Arama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OpenSearch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Log indeksleme &amp; full-text arama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Yapay Zeka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Google Gemini 2.5 Flash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4 ayrı anahtar, 4 farklı görev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DevOps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Docker + Docker Compose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13 servis, tek komutla çalıştırma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İzleme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OpenTelemetry + Prometheus + Grafana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Metrik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&amp; trace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toplama</a:t>
                      </a:r>
                      <a:endParaRPr sz="12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Güvenlik &amp; Kimlik Doğrulama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143000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/>
              <a:t>Keycloak</a:t>
            </a:r>
            <a:r>
              <a:rPr sz="1400" b="1" i="0" dirty="0">
                <a:solidFill>
                  <a:srgbClr val="1F3964"/>
                </a:solidFill>
              </a:rPr>
              <a:t> </a:t>
            </a:r>
            <a:r>
              <a:rPr sz="1400" b="1" i="0" dirty="0"/>
              <a:t>24.0</a:t>
            </a:r>
            <a:r>
              <a:rPr sz="1400" b="1" i="0" dirty="0">
                <a:solidFill>
                  <a:srgbClr val="1F3964"/>
                </a:solidFill>
              </a:rPr>
              <a:t> </a:t>
            </a:r>
            <a:r>
              <a:rPr sz="1400" b="1" i="0" dirty="0"/>
              <a:t>—</a:t>
            </a:r>
            <a:r>
              <a:rPr sz="1400" b="1" i="0" dirty="0">
                <a:solidFill>
                  <a:srgbClr val="1F3964"/>
                </a:solidFill>
              </a:rPr>
              <a:t> </a:t>
            </a:r>
            <a:r>
              <a:rPr sz="1400" b="1" i="0" dirty="0"/>
              <a:t>OAuth2</a:t>
            </a:r>
            <a:r>
              <a:rPr sz="1400" b="1" i="0" dirty="0">
                <a:solidFill>
                  <a:srgbClr val="1F3964"/>
                </a:solidFill>
              </a:rPr>
              <a:t> </a:t>
            </a:r>
            <a:r>
              <a:rPr sz="1400" b="1" i="0" dirty="0"/>
              <a:t>/</a:t>
            </a:r>
            <a:r>
              <a:rPr sz="1400" b="1" i="0" dirty="0">
                <a:solidFill>
                  <a:srgbClr val="1F3964"/>
                </a:solidFill>
              </a:rPr>
              <a:t> </a:t>
            </a:r>
            <a:r>
              <a:rPr sz="1400" b="1" i="0" dirty="0"/>
              <a:t>OIDC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48640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04040"/>
                </a:solidFill>
              </a:rPr>
              <a:t>  •  OAuth 2.0 + OpenID Connect protokolleri</a:t>
            </a:r>
          </a:p>
          <a:p>
            <a:r>
              <a:rPr sz="1500">
                <a:solidFill>
                  <a:srgbClr val="404040"/>
                </a:solidFill>
              </a:rPr>
              <a:t>  •  JWT erişim &amp; yenileme token yönetimi</a:t>
            </a:r>
          </a:p>
          <a:p>
            <a:r>
              <a:rPr sz="1500">
                <a:solidFill>
                  <a:srgbClr val="404040"/>
                </a:solidFill>
              </a:rPr>
              <a:t>  •  Rol tabanlı yetkilendirme (RBAC)</a:t>
            </a:r>
          </a:p>
          <a:p>
            <a:r>
              <a:rPr sz="1500">
                <a:solidFill>
                  <a:srgbClr val="404040"/>
                </a:solidFill>
              </a:rPr>
              <a:t>  •  TOTP tabanlı İki Faktörlü Doğrulama (2FA)</a:t>
            </a:r>
          </a:p>
          <a:p>
            <a:r>
              <a:rPr sz="1500">
                <a:solidFill>
                  <a:srgbClr val="404040"/>
                </a:solidFill>
              </a:rPr>
              <a:t>  •  Sessiz SSO kontrolü (silentCheckSsoRedirectUri)</a:t>
            </a:r>
          </a:p>
          <a:p>
            <a:r>
              <a:rPr sz="1500">
                <a:solidFill>
                  <a:srgbClr val="404040"/>
                </a:solidFill>
              </a:rPr>
              <a:t>  •  4 dakikada bir otomatik token yenileme</a:t>
            </a:r>
          </a:p>
          <a:p>
            <a:r>
              <a:rPr sz="1500">
                <a:solidFill>
                  <a:srgbClr val="404040"/>
                </a:solidFill>
              </a:rPr>
              <a:t>  •  Keycloak realm: finans-portali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143000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Backend</a:t>
            </a:r>
            <a:r>
              <a:rPr sz="1400" b="1" i="0" dirty="0">
                <a:solidFill>
                  <a:srgbClr val="1F3964"/>
                </a:solidFill>
              </a:rPr>
              <a:t> </a:t>
            </a:r>
            <a:r>
              <a:rPr sz="1400" b="1" i="0" dirty="0" err="1"/>
              <a:t>Güvenlik</a:t>
            </a:r>
            <a:r>
              <a:rPr sz="1400" b="1" i="0" dirty="0">
                <a:solidFill>
                  <a:srgbClr val="1F3964"/>
                </a:solidFill>
              </a:rPr>
              <a:t> </a:t>
            </a:r>
            <a:r>
              <a:rPr sz="1400" b="1" i="0" dirty="0" err="1"/>
              <a:t>Katmanı</a:t>
            </a:r>
            <a:endParaRPr sz="1400" b="1" i="0" dirty="0"/>
          </a:p>
        </p:txBody>
      </p:sp>
      <p:sp>
        <p:nvSpPr>
          <p:cNvPr id="9" name="Rectangle 8"/>
          <p:cNvSpPr/>
          <p:nvPr/>
        </p:nvSpPr>
        <p:spPr>
          <a:xfrm>
            <a:off x="6126480" y="1508760"/>
            <a:ext cx="566928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6002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04040"/>
                </a:solidFill>
              </a:rPr>
              <a:t>  •  Spring Security — OAuth2 Resource Server</a:t>
            </a:r>
          </a:p>
          <a:p>
            <a:r>
              <a:rPr sz="1500">
                <a:solidFill>
                  <a:srgbClr val="404040"/>
                </a:solidFill>
              </a:rPr>
              <a:t>  •  Her endpoint JWT ile korumalı</a:t>
            </a:r>
          </a:p>
          <a:p>
            <a:r>
              <a:rPr sz="1500">
                <a:solidFill>
                  <a:srgbClr val="404040"/>
                </a:solidFill>
              </a:rPr>
              <a:t>  •  CORS yapılandırması (whitelist tabanlı)</a:t>
            </a:r>
          </a:p>
          <a:p>
            <a:r>
              <a:rPr sz="1500">
                <a:solidFill>
                  <a:srgbClr val="404040"/>
                </a:solidFill>
              </a:rPr>
              <a:t>  •  Rate limiting — Redis ile istek sınırlama</a:t>
            </a:r>
          </a:p>
          <a:p>
            <a:r>
              <a:rPr sz="1500">
                <a:solidFill>
                  <a:srgbClr val="404040"/>
                </a:solidFill>
              </a:rPr>
              <a:t>  •  Hassas veri şifreleme (AES-256)</a:t>
            </a:r>
          </a:p>
          <a:p>
            <a:r>
              <a:rPr sz="1500">
                <a:solidFill>
                  <a:srgbClr val="404040"/>
                </a:solidFill>
              </a:rPr>
              <a:t>  •  SQL injection koruması (JPA parametreli sorgu)</a:t>
            </a:r>
          </a:p>
          <a:p>
            <a:r>
              <a:rPr sz="1500">
                <a:solidFill>
                  <a:srgbClr val="404040"/>
                </a:solidFill>
              </a:rPr>
              <a:t>  •  Docker ağ izolasyonu (internal network)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Veritabanı Tasarımı &amp;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133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/>
              <a:t>Veritabanı</a:t>
            </a:r>
            <a:r>
              <a:rPr sz="1400" b="1" i="0" dirty="0"/>
              <a:t> </a:t>
            </a:r>
            <a:r>
              <a:rPr sz="1400" b="1" i="0" dirty="0" err="1"/>
              <a:t>Tabloları</a:t>
            </a:r>
            <a:r>
              <a:rPr sz="1400" b="1" i="0" dirty="0"/>
              <a:t> (Flyway </a:t>
            </a:r>
            <a:r>
              <a:rPr sz="1400" b="1" i="0" dirty="0" err="1"/>
              <a:t>Migrasyonları</a:t>
            </a:r>
            <a:r>
              <a:rPr sz="1400" b="1" i="0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1133856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87830"/>
              </p:ext>
            </p:extLst>
          </p:nvPr>
        </p:nvGraphicFramePr>
        <p:xfrm>
          <a:off x="411480" y="1554480"/>
          <a:ext cx="113385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Tablo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Açıklama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Önemli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Alanlar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piyasa_verileri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Hisse/döviz/kripto fiyatları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sembol, fiyat, hacim, degisim, timestamp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portfoy_kalemleri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Kullanıcı portföy pozisyonları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kullanici_id, sembol, adet, maliyet_fiyati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haberler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Finansal haber akışı (RSS + AI özet)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baslik, icerik, kaynak, kategori, ai_ozeti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chat_sessions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AI sohbet oturumları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kullanici_id, baslik, durum, olusturma_zamani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chat_mesajlari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Sohbet mesajları + AI grafik verisi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seans_id, rol, icerik, grafik_data, anomalies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ekonomik_takvim</a:t>
                      </a:r>
                      <a:endParaRPr sz="12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Ekonomik event takvimi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etkinlik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etki_seviyesi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beklenen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,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gerceklesme</a:t>
                      </a:r>
                      <a:endParaRPr sz="12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532120"/>
            <a:ext cx="11338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Temel API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Endpoint'leri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 /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api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/v1/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piyasa-verileri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|  /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portfoy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|  /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haberler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|  /ai  |  /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ekonomik-takvim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|  /auth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Yapay Zeka Entegrasyonu — Google Gemini 2.5 Flash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548212"/>
              </p:ext>
            </p:extLst>
          </p:nvPr>
        </p:nvGraphicFramePr>
        <p:xfrm>
          <a:off x="411480" y="118872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API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Anahtarı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Görev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Özellikler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chat-key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AI Sohbet Asistanı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/api/v1/ai/tavsiye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Oturum sürekliliği, grafik data üretimi, anomali tespiti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portfolio-key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Portföy Analizi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/api/v1/ai/portfolio-insight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Sağlık skoru (0-100), risk değerlendirmesi, öneri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dashboard-key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Günlük Piyasa Brifing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/api/v1/ai/market-briefing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Türkçe piyasa özeti, öne çıkan hareketler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news-key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Haber Özetleme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/api/v1/ai/haber-ozeti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404040"/>
                          </a:solidFill>
                        </a:rPr>
                        <a:t>Uzun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haberleri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2-3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cümleye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özetleme</a:t>
                      </a:r>
                      <a:endParaRPr sz="12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3977639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AI </a:t>
            </a:r>
            <a:r>
              <a:rPr sz="1400" b="1" i="0" dirty="0" err="1"/>
              <a:t>Yanıt</a:t>
            </a:r>
            <a:r>
              <a:rPr sz="1400" b="1" i="0" dirty="0"/>
              <a:t> </a:t>
            </a:r>
            <a:r>
              <a:rPr sz="1400" b="1" i="0" dirty="0" err="1"/>
              <a:t>Özellikleri</a:t>
            </a:r>
            <a:endParaRPr sz="1400" b="1" i="0" dirty="0"/>
          </a:p>
        </p:txBody>
      </p:sp>
      <p:sp>
        <p:nvSpPr>
          <p:cNvPr id="7" name="Rectangle 6"/>
          <p:cNvSpPr/>
          <p:nvPr/>
        </p:nvSpPr>
        <p:spPr>
          <a:xfrm>
            <a:off x="411480" y="4297680"/>
            <a:ext cx="1133856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438912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04040"/>
                </a:solidFill>
              </a:rPr>
              <a:t>  •  Grafik Verisi: AI yanıtından JSON bloğu ayıklanır → Recharts ile PIE / BAR / RISK_BAR grafiği çizilir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Anomali Tespiti: CONCENTRATION / UNDERPERFORMANCE / HIGH_RISK_PORTFOLIO uyarıları, renk kodlu badge'ler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Dinamik Öneri Butonları: Her yanıta göre otomatik güncellenen 3 ilgili soru butonu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Sohbet Hafızası: Son 20 mesaj bağlam olarak iletilir, oturumlar veritabanında kalıcı saklanır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Frontend Sayfaları &amp; Dış Veri Entegrasyonları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8 Ana </a:t>
            </a:r>
            <a:r>
              <a:rPr sz="1400" b="1" i="0" dirty="0" err="1"/>
              <a:t>Sayfa</a:t>
            </a:r>
            <a:endParaRPr sz="1400" b="1" i="0" dirty="0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48640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04040"/>
                </a:solidFill>
              </a:rPr>
              <a:t>  •  Dashboard — canlı fiyatlar, piyasa trendleri, AI brifing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Analiz — mum grafiği, teknik indikatörler (MA/RSI/BB)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Portföy — dağılım pasta grafiği, kar/zarar tablosu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AI Asistan — sohbet, grafik rendering, anomali badge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Haberler — RSS akışı + AI özeti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Ekonomik Takvim — event takvimi ve filtre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Geri Test — strateji backtesting, performans raporu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Ayarlar — profil, API yapılandırması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789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/>
              <a:t>Ücretsiz</a:t>
            </a:r>
            <a:r>
              <a:rPr sz="1400" b="1" i="0" dirty="0"/>
              <a:t> </a:t>
            </a:r>
            <a:r>
              <a:rPr sz="1400" b="1" i="0" dirty="0" err="1"/>
              <a:t>Dış</a:t>
            </a:r>
            <a:r>
              <a:rPr sz="1400" b="1" i="0" dirty="0"/>
              <a:t> </a:t>
            </a:r>
            <a:r>
              <a:rPr sz="1400" b="1" i="0" dirty="0" err="1"/>
              <a:t>API'ler</a:t>
            </a:r>
            <a:endParaRPr sz="1400" b="1" i="0" dirty="0"/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66928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403490"/>
              </p:ext>
            </p:extLst>
          </p:nvPr>
        </p:nvGraphicFramePr>
        <p:xfrm>
          <a:off x="6126480" y="1508760"/>
          <a:ext cx="56692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API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Veri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Yahoo Finance (ücretsiz)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15 hisse senedi fiyatı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CoinGecko (ücretsiz)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5 kripto para fiyatı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TCMB XML Feed (ücretsiz)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5 döviz kuru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RSS Haber Akışı (ücretsiz)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Finansal haberler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CollectAPI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(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ücretli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yedek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Yedek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veri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kaynağı</a:t>
                      </a:r>
                      <a:endParaRPr sz="12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577840"/>
            <a:ext cx="11338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Demo Veri: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Sistem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başlarken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365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günlük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fiyat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verisi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(25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enstrüman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+ 15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haber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seed'lenir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API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bağlantısı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olmasa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bile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uygulama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çalışır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Log Pipeline, İzleme Altyapısı &amp;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Log Pipeline (Kafka → OpenSearch)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48640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3035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04040"/>
                </a:solidFill>
              </a:rPr>
              <a:t>  •  Log4j2 → Kafka producer (topic: app-logs)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KafkaLogConsumerService → OpenSearch indeksler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Yapılandırılmış JSON log formatı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OpenSearch Dashboards ile görselleştirme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Log seviyesi: INFO / WARN / ERROR / DEBUG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/>
              <a:t>OpenTelemetry</a:t>
            </a:r>
            <a:r>
              <a:rPr sz="1400" b="1" i="0" dirty="0"/>
              <a:t> &amp; Prometheus &amp; Grafana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66928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04040"/>
                </a:solidFill>
              </a:rPr>
              <a:t>  •  OpenTelemetry SDK — trace &amp; span toplama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/actuator/prometheus endpoint aktif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Prometheus — metrik scraping (15s interval)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Grafana — JVM, HTTP, DB metrik panoları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  •  Sağlık kontrolleri: /actuator/health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9319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Test </a:t>
            </a:r>
            <a:r>
              <a:rPr sz="1400" b="1" i="0" dirty="0" err="1"/>
              <a:t>Stratejisi</a:t>
            </a:r>
            <a:endParaRPr sz="1400" b="1" i="0" dirty="0"/>
          </a:p>
        </p:txBody>
      </p:sp>
      <p:sp>
        <p:nvSpPr>
          <p:cNvPr id="12" name="Rectangle 11"/>
          <p:cNvSpPr/>
          <p:nvPr/>
        </p:nvSpPr>
        <p:spPr>
          <a:xfrm>
            <a:off x="411480" y="4251960"/>
            <a:ext cx="1133856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87934"/>
              </p:ext>
            </p:extLst>
          </p:nvPr>
        </p:nvGraphicFramePr>
        <p:xfrm>
          <a:off x="411480" y="434340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Test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Türü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Araç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Kapsam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Birim 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JUnit 5 + Mockito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Service katmanı metod testleri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Entegrasyon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Spring Boot Test + TestContainers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DB, Kafka, Redis entegrasyon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API Test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Postman / REST Assured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Tüm endpoint'ler, hata senaryoları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Yük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Testi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404040"/>
                          </a:solidFill>
                        </a:rPr>
                        <a:t>k6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404040"/>
                          </a:solidFill>
                        </a:rPr>
                        <a:t>100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eşzamanlı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kullanıcı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, p95 &lt; 400ms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Zorluklar, Öğrenilenler &amp; Gelecek Çalışmalar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/>
              <a:t>Karşılaşılan</a:t>
            </a:r>
            <a:r>
              <a:rPr sz="1400" b="1" i="0" dirty="0"/>
              <a:t> </a:t>
            </a:r>
            <a:r>
              <a:rPr sz="1400" b="1" i="0" dirty="0" err="1"/>
              <a:t>Zorluklar</a:t>
            </a:r>
            <a:r>
              <a:rPr sz="1400" b="1" i="0" dirty="0"/>
              <a:t> &amp; </a:t>
            </a:r>
            <a:r>
              <a:rPr sz="1400" b="1" i="0" dirty="0" err="1"/>
              <a:t>Çözümler</a:t>
            </a:r>
            <a:endParaRPr sz="1400" b="1" i="0" dirty="0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48640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1F3964"/>
                </a:solidFill>
              </a:rPr>
              <a:t>  </a:t>
            </a:r>
            <a:r>
              <a:rPr sz="1300" b="1" dirty="0"/>
              <a:t>•  </a:t>
            </a:r>
            <a:r>
              <a:rPr sz="1300" b="1" dirty="0" err="1"/>
              <a:t>Keycloak</a:t>
            </a:r>
            <a:r>
              <a:rPr sz="1300" b="1" dirty="0"/>
              <a:t> Session </a:t>
            </a:r>
            <a:r>
              <a:rPr sz="1300" b="1" dirty="0" err="1"/>
              <a:t>Süresi</a:t>
            </a:r>
            <a:r>
              <a:rPr sz="1300" b="1" dirty="0"/>
              <a:t> </a:t>
            </a:r>
            <a:r>
              <a:rPr sz="1300" b="1" dirty="0" err="1"/>
              <a:t>Dolumu</a:t>
            </a:r>
            <a:endParaRPr sz="1300" b="1" dirty="0"/>
          </a:p>
          <a:p>
            <a:r>
              <a:rPr sz="1100" dirty="0">
                <a:solidFill>
                  <a:srgbClr val="404040"/>
                </a:solidFill>
              </a:rPr>
              <a:t>       ◦  </a:t>
            </a:r>
            <a:r>
              <a:rPr sz="1100" dirty="0" err="1">
                <a:solidFill>
                  <a:srgbClr val="404040"/>
                </a:solidFill>
              </a:rPr>
              <a:t>silentCheckSsoRedirectUri</a:t>
            </a:r>
            <a:r>
              <a:rPr sz="1100" dirty="0">
                <a:solidFill>
                  <a:srgbClr val="404040"/>
                </a:solidFill>
              </a:rPr>
              <a:t> + 4dk refresh interval </a:t>
            </a:r>
            <a:r>
              <a:rPr sz="1100" dirty="0" err="1">
                <a:solidFill>
                  <a:srgbClr val="404040"/>
                </a:solidFill>
              </a:rPr>
              <a:t>eklendi</a:t>
            </a:r>
            <a:endParaRPr sz="1100" dirty="0">
              <a:solidFill>
                <a:srgbClr val="404040"/>
              </a:solidFill>
            </a:endParaRPr>
          </a:p>
          <a:p>
            <a:pPr algn="l"/>
            <a:r>
              <a:rPr sz="1300" b="1" dirty="0">
                <a:solidFill>
                  <a:srgbClr val="1F3964"/>
                </a:solidFill>
              </a:rPr>
              <a:t>  </a:t>
            </a:r>
            <a:r>
              <a:rPr sz="1300" b="1" dirty="0"/>
              <a:t>•  Kafka-OpenSearch </a:t>
            </a:r>
            <a:r>
              <a:rPr sz="1300" b="1" dirty="0" err="1"/>
              <a:t>Entegrasyonu</a:t>
            </a:r>
            <a:endParaRPr sz="1300" b="1" dirty="0"/>
          </a:p>
          <a:p>
            <a:r>
              <a:rPr sz="1100" dirty="0">
                <a:solidFill>
                  <a:srgbClr val="404040"/>
                </a:solidFill>
              </a:rPr>
              <a:t>       ◦  Custom </a:t>
            </a:r>
            <a:r>
              <a:rPr sz="1100" dirty="0" err="1">
                <a:solidFill>
                  <a:srgbClr val="404040"/>
                </a:solidFill>
              </a:rPr>
              <a:t>KafkaLogConsumerService</a:t>
            </a:r>
            <a:r>
              <a:rPr sz="1100" dirty="0">
                <a:solidFill>
                  <a:srgbClr val="404040"/>
                </a:solidFill>
              </a:rPr>
              <a:t> </a:t>
            </a:r>
            <a:r>
              <a:rPr sz="1100" dirty="0" err="1">
                <a:solidFill>
                  <a:srgbClr val="404040"/>
                </a:solidFill>
              </a:rPr>
              <a:t>yazıldı</a:t>
            </a:r>
            <a:endParaRPr sz="1100" dirty="0">
              <a:solidFill>
                <a:srgbClr val="404040"/>
              </a:solidFill>
            </a:endParaRPr>
          </a:p>
          <a:p>
            <a:pPr algn="l"/>
            <a:r>
              <a:rPr sz="1300" b="1" dirty="0">
                <a:solidFill>
                  <a:srgbClr val="1F3964"/>
                </a:solidFill>
              </a:rPr>
              <a:t>  </a:t>
            </a:r>
            <a:r>
              <a:rPr sz="1300" b="1" dirty="0"/>
              <a:t>•  AI </a:t>
            </a:r>
            <a:r>
              <a:rPr sz="1300" b="1" dirty="0" err="1"/>
              <a:t>Yanıt</a:t>
            </a:r>
            <a:r>
              <a:rPr sz="1300" b="1" dirty="0"/>
              <a:t> Parsing</a:t>
            </a:r>
          </a:p>
          <a:p>
            <a:r>
              <a:rPr sz="1100" dirty="0">
                <a:solidFill>
                  <a:srgbClr val="404040"/>
                </a:solidFill>
              </a:rPr>
              <a:t>       ◦  Regex </a:t>
            </a:r>
            <a:r>
              <a:rPr sz="1100" dirty="0" err="1">
                <a:solidFill>
                  <a:srgbClr val="404040"/>
                </a:solidFill>
              </a:rPr>
              <a:t>ile</a:t>
            </a:r>
            <a:r>
              <a:rPr sz="1100" dirty="0">
                <a:solidFill>
                  <a:srgbClr val="404040"/>
                </a:solidFill>
              </a:rPr>
              <a:t> JSON </a:t>
            </a:r>
            <a:r>
              <a:rPr sz="1100" dirty="0" err="1">
                <a:solidFill>
                  <a:srgbClr val="404040"/>
                </a:solidFill>
              </a:rPr>
              <a:t>bloğu</a:t>
            </a:r>
            <a:r>
              <a:rPr sz="1100" dirty="0">
                <a:solidFill>
                  <a:srgbClr val="404040"/>
                </a:solidFill>
              </a:rPr>
              <a:t> </a:t>
            </a:r>
            <a:r>
              <a:rPr sz="1100" dirty="0" err="1">
                <a:solidFill>
                  <a:srgbClr val="404040"/>
                </a:solidFill>
              </a:rPr>
              <a:t>ayıklama</a:t>
            </a:r>
            <a:r>
              <a:rPr sz="1100" dirty="0">
                <a:solidFill>
                  <a:srgbClr val="404040"/>
                </a:solidFill>
              </a:rPr>
              <a:t> </a:t>
            </a:r>
            <a:r>
              <a:rPr sz="1100" dirty="0" err="1">
                <a:solidFill>
                  <a:srgbClr val="404040"/>
                </a:solidFill>
              </a:rPr>
              <a:t>implementasyonu</a:t>
            </a:r>
            <a:endParaRPr sz="1100" dirty="0">
              <a:solidFill>
                <a:srgbClr val="404040"/>
              </a:solidFill>
            </a:endParaRPr>
          </a:p>
          <a:p>
            <a:pPr algn="l"/>
            <a:r>
              <a:rPr sz="1300" b="1" dirty="0">
                <a:solidFill>
                  <a:srgbClr val="1F3964"/>
                </a:solidFill>
              </a:rPr>
              <a:t>  </a:t>
            </a:r>
            <a:r>
              <a:rPr sz="1300" b="1" dirty="0"/>
              <a:t>•  Docker </a:t>
            </a:r>
            <a:r>
              <a:rPr sz="1300" b="1" dirty="0" err="1"/>
              <a:t>Ağ</a:t>
            </a:r>
            <a:r>
              <a:rPr sz="1300" b="1" dirty="0"/>
              <a:t> </a:t>
            </a:r>
            <a:r>
              <a:rPr sz="1300" b="1" dirty="0" err="1"/>
              <a:t>Yönetimi</a:t>
            </a:r>
            <a:endParaRPr sz="1300" b="1" dirty="0"/>
          </a:p>
          <a:p>
            <a:r>
              <a:rPr sz="1100" dirty="0">
                <a:solidFill>
                  <a:srgbClr val="404040"/>
                </a:solidFill>
              </a:rPr>
              <a:t>       ◦  13 </a:t>
            </a:r>
            <a:r>
              <a:rPr sz="1100" dirty="0" err="1">
                <a:solidFill>
                  <a:srgbClr val="404040"/>
                </a:solidFill>
              </a:rPr>
              <a:t>servis</a:t>
            </a:r>
            <a:r>
              <a:rPr sz="1100" dirty="0">
                <a:solidFill>
                  <a:srgbClr val="404040"/>
                </a:solidFill>
              </a:rPr>
              <a:t> için </a:t>
            </a:r>
            <a:r>
              <a:rPr sz="1100" dirty="0" err="1">
                <a:solidFill>
                  <a:srgbClr val="404040"/>
                </a:solidFill>
              </a:rPr>
              <a:t>özel</a:t>
            </a:r>
            <a:r>
              <a:rPr sz="1100" dirty="0">
                <a:solidFill>
                  <a:srgbClr val="404040"/>
                </a:solidFill>
              </a:rPr>
              <a:t> network </a:t>
            </a:r>
            <a:r>
              <a:rPr sz="1100" dirty="0" err="1">
                <a:solidFill>
                  <a:srgbClr val="404040"/>
                </a:solidFill>
              </a:rPr>
              <a:t>tanımları</a:t>
            </a:r>
            <a:endParaRPr sz="1100" dirty="0">
              <a:solidFill>
                <a:srgbClr val="404040"/>
              </a:solidFill>
            </a:endParaRPr>
          </a:p>
          <a:p>
            <a:pPr algn="l"/>
            <a:r>
              <a:rPr sz="1300" b="1" dirty="0">
                <a:solidFill>
                  <a:srgbClr val="1F3964"/>
                </a:solidFill>
              </a:rPr>
              <a:t>  </a:t>
            </a:r>
            <a:r>
              <a:rPr sz="1300" b="1" dirty="0"/>
              <a:t>•  </a:t>
            </a:r>
            <a:r>
              <a:rPr sz="1300" b="1" dirty="0" err="1"/>
              <a:t>Ücretsiz</a:t>
            </a:r>
            <a:r>
              <a:rPr sz="1300" b="1" dirty="0"/>
              <a:t> API Kota </a:t>
            </a:r>
            <a:r>
              <a:rPr sz="1300" b="1" dirty="0" err="1"/>
              <a:t>Yönetimi</a:t>
            </a:r>
            <a:endParaRPr sz="1300" b="1" dirty="0"/>
          </a:p>
          <a:p>
            <a:r>
              <a:rPr sz="1100" dirty="0">
                <a:solidFill>
                  <a:srgbClr val="404040"/>
                </a:solidFill>
              </a:rPr>
              <a:t>       ◦  </a:t>
            </a:r>
            <a:r>
              <a:rPr sz="1100" dirty="0" err="1">
                <a:solidFill>
                  <a:srgbClr val="404040"/>
                </a:solidFill>
              </a:rPr>
              <a:t>CollectAPI</a:t>
            </a:r>
            <a:r>
              <a:rPr sz="1100" dirty="0">
                <a:solidFill>
                  <a:srgbClr val="404040"/>
                </a:solidFill>
              </a:rPr>
              <a:t> fallback + </a:t>
            </a:r>
            <a:r>
              <a:rPr sz="1100" dirty="0" err="1">
                <a:solidFill>
                  <a:srgbClr val="404040"/>
                </a:solidFill>
              </a:rPr>
              <a:t>yerel</a:t>
            </a:r>
            <a:r>
              <a:rPr sz="1100" dirty="0">
                <a:solidFill>
                  <a:srgbClr val="404040"/>
                </a:solidFill>
              </a:rPr>
              <a:t> demo </a:t>
            </a:r>
            <a:r>
              <a:rPr sz="1100" dirty="0" err="1">
                <a:solidFill>
                  <a:srgbClr val="404040"/>
                </a:solidFill>
              </a:rPr>
              <a:t>veri</a:t>
            </a:r>
            <a:endParaRPr sz="1100" dirty="0">
              <a:solidFill>
                <a:srgbClr val="40404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/>
              <a:t>Öğrenilenler</a:t>
            </a:r>
            <a:r>
              <a:rPr sz="1400" b="1" i="0" dirty="0"/>
              <a:t> &amp; </a:t>
            </a:r>
            <a:r>
              <a:rPr sz="1400" b="1" i="0" dirty="0" err="1"/>
              <a:t>Gelecek</a:t>
            </a:r>
            <a:r>
              <a:rPr sz="1400" b="1" i="0" dirty="0"/>
              <a:t> </a:t>
            </a:r>
            <a:r>
              <a:rPr sz="1400" b="1" i="0" dirty="0" err="1"/>
              <a:t>Planlar</a:t>
            </a:r>
            <a:endParaRPr sz="1400" b="1" i="0" dirty="0"/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669280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508760"/>
            <a:ext cx="56692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dirty="0">
                <a:solidFill>
                  <a:srgbClr val="404040"/>
                </a:solidFill>
              </a:rPr>
              <a:t>  •  </a:t>
            </a:r>
            <a:r>
              <a:rPr sz="1300" dirty="0" err="1">
                <a:solidFill>
                  <a:srgbClr val="404040"/>
                </a:solidFill>
              </a:rPr>
              <a:t>Mikroservis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mimarisi</a:t>
            </a:r>
            <a:r>
              <a:rPr sz="1300" dirty="0">
                <a:solidFill>
                  <a:srgbClr val="404040"/>
                </a:solidFill>
              </a:rPr>
              <a:t> ve </a:t>
            </a:r>
            <a:r>
              <a:rPr sz="1300" dirty="0" err="1">
                <a:solidFill>
                  <a:srgbClr val="404040"/>
                </a:solidFill>
              </a:rPr>
              <a:t>servisler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arası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iletişim</a:t>
            </a:r>
            <a:endParaRPr sz="1300" dirty="0">
              <a:solidFill>
                <a:srgbClr val="404040"/>
              </a:solidFill>
            </a:endParaRP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</a:t>
            </a:r>
            <a:r>
              <a:rPr sz="1300" dirty="0" err="1">
                <a:solidFill>
                  <a:srgbClr val="404040"/>
                </a:solidFill>
              </a:rPr>
              <a:t>Kurumsal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güvenlik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standartları</a:t>
            </a:r>
            <a:r>
              <a:rPr sz="1300" dirty="0">
                <a:solidFill>
                  <a:srgbClr val="404040"/>
                </a:solidFill>
              </a:rPr>
              <a:t> (OAuth2/OIDC)</a:t>
            </a: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</a:t>
            </a:r>
            <a:r>
              <a:rPr sz="1300" dirty="0" err="1">
                <a:solidFill>
                  <a:srgbClr val="404040"/>
                </a:solidFill>
              </a:rPr>
              <a:t>Gözlemlenebilirlik</a:t>
            </a:r>
            <a:r>
              <a:rPr sz="1300" dirty="0">
                <a:solidFill>
                  <a:srgbClr val="404040"/>
                </a:solidFill>
              </a:rPr>
              <a:t> (observability) </a:t>
            </a:r>
            <a:r>
              <a:rPr sz="1300" dirty="0" err="1">
                <a:solidFill>
                  <a:srgbClr val="404040"/>
                </a:solidFill>
              </a:rPr>
              <a:t>ilkeleri</a:t>
            </a:r>
            <a:endParaRPr sz="1300" dirty="0">
              <a:solidFill>
                <a:srgbClr val="404040"/>
              </a:solidFill>
            </a:endParaRP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</a:t>
            </a:r>
            <a:r>
              <a:rPr sz="1300" dirty="0" err="1">
                <a:solidFill>
                  <a:srgbClr val="404040"/>
                </a:solidFill>
              </a:rPr>
              <a:t>Üretim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seviyesi</a:t>
            </a:r>
            <a:r>
              <a:rPr sz="1300" dirty="0">
                <a:solidFill>
                  <a:srgbClr val="404040"/>
                </a:solidFill>
              </a:rPr>
              <a:t> CI/CD pipeline </a:t>
            </a:r>
            <a:r>
              <a:rPr sz="1300" dirty="0" err="1">
                <a:solidFill>
                  <a:srgbClr val="404040"/>
                </a:solidFill>
              </a:rPr>
              <a:t>tasarımı</a:t>
            </a:r>
            <a:endParaRPr sz="1300" dirty="0">
              <a:solidFill>
                <a:srgbClr val="404040"/>
              </a:solidFill>
            </a:endParaRP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──── </a:t>
            </a:r>
            <a:r>
              <a:rPr sz="1300" dirty="0" err="1">
                <a:solidFill>
                  <a:srgbClr val="404040"/>
                </a:solidFill>
              </a:rPr>
              <a:t>Gelecek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Çalışmalar</a:t>
            </a:r>
            <a:r>
              <a:rPr sz="1300" dirty="0">
                <a:solidFill>
                  <a:srgbClr val="404040"/>
                </a:solidFill>
              </a:rPr>
              <a:t> ────</a:t>
            </a: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WebSocket </a:t>
            </a:r>
            <a:r>
              <a:rPr sz="1300" dirty="0" err="1">
                <a:solidFill>
                  <a:srgbClr val="404040"/>
                </a:solidFill>
              </a:rPr>
              <a:t>ile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gerçek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zamanlı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fiyat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akışı</a:t>
            </a:r>
            <a:endParaRPr sz="1300" dirty="0">
              <a:solidFill>
                <a:srgbClr val="404040"/>
              </a:solidFill>
            </a:endParaRP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</a:t>
            </a:r>
            <a:r>
              <a:rPr sz="1300" dirty="0" err="1">
                <a:solidFill>
                  <a:srgbClr val="404040"/>
                </a:solidFill>
              </a:rPr>
              <a:t>Gelişmiş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teknik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indikatörler</a:t>
            </a:r>
            <a:r>
              <a:rPr sz="1300" dirty="0">
                <a:solidFill>
                  <a:srgbClr val="404040"/>
                </a:solidFill>
              </a:rPr>
              <a:t> (MACD, Stochastic)</a:t>
            </a: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AI </a:t>
            </a:r>
            <a:r>
              <a:rPr sz="1300" dirty="0" err="1">
                <a:solidFill>
                  <a:srgbClr val="404040"/>
                </a:solidFill>
              </a:rPr>
              <a:t>ile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otomatik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alım-satım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sinyali</a:t>
            </a:r>
            <a:r>
              <a:rPr sz="1300" dirty="0">
                <a:solidFill>
                  <a:srgbClr val="404040"/>
                </a:solidFill>
              </a:rPr>
              <a:t> </a:t>
            </a:r>
            <a:r>
              <a:rPr sz="1300" dirty="0" err="1">
                <a:solidFill>
                  <a:srgbClr val="404040"/>
                </a:solidFill>
              </a:rPr>
              <a:t>üretimi</a:t>
            </a:r>
            <a:endParaRPr sz="1300" dirty="0">
              <a:solidFill>
                <a:srgbClr val="404040"/>
              </a:solidFill>
            </a:endParaRP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E-</a:t>
            </a:r>
            <a:r>
              <a:rPr sz="1300" dirty="0" err="1">
                <a:solidFill>
                  <a:srgbClr val="404040"/>
                </a:solidFill>
              </a:rPr>
              <a:t>posta</a:t>
            </a:r>
            <a:r>
              <a:rPr sz="1300" dirty="0">
                <a:solidFill>
                  <a:srgbClr val="404040"/>
                </a:solidFill>
              </a:rPr>
              <a:t>/SMS </a:t>
            </a:r>
            <a:r>
              <a:rPr sz="1300" dirty="0" err="1">
                <a:solidFill>
                  <a:srgbClr val="404040"/>
                </a:solidFill>
              </a:rPr>
              <a:t>fiyat</a:t>
            </a:r>
            <a:r>
              <a:rPr sz="1300" dirty="0">
                <a:solidFill>
                  <a:srgbClr val="404040"/>
                </a:solidFill>
              </a:rPr>
              <a:t> alarm </a:t>
            </a:r>
            <a:r>
              <a:rPr sz="1300" dirty="0" err="1">
                <a:solidFill>
                  <a:srgbClr val="404040"/>
                </a:solidFill>
              </a:rPr>
              <a:t>sistemi</a:t>
            </a:r>
            <a:endParaRPr sz="1300" dirty="0">
              <a:solidFill>
                <a:srgbClr val="404040"/>
              </a:solidFill>
            </a:endParaRPr>
          </a:p>
          <a:p>
            <a:pPr algn="l"/>
            <a:r>
              <a:rPr sz="1300" dirty="0">
                <a:solidFill>
                  <a:srgbClr val="404040"/>
                </a:solidFill>
              </a:rPr>
              <a:t>  •  Kubernetes / Helm Chart </a:t>
            </a:r>
            <a:r>
              <a:rPr sz="1300" dirty="0" err="1">
                <a:solidFill>
                  <a:srgbClr val="404040"/>
                </a:solidFill>
              </a:rPr>
              <a:t>geçişi</a:t>
            </a:r>
            <a:endParaRPr sz="130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Sonuç &amp; Özet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168554"/>
              </p:ext>
            </p:extLst>
          </p:nvPr>
        </p:nvGraphicFramePr>
        <p:xfrm>
          <a:off x="411480" y="1188720"/>
          <a:ext cx="113385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Başlık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Detay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Proje Adı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Finansal Yatırım Takip Portalı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Toplam Servis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13 Docker servisi, tek docker-compose up komutu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Backend Endpoint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30+ REST API endpoint, tamamı JWT korumalı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Frontend Sayfa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8 ana sayfa, responsive tasarım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Veri Kaynağı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4 ücretsiz API (Yahoo Finance, CoinGecko, TCMB, RSS)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Yapay Zeka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Google Gemini 2.5 Flash, 4 bağımsız API anahtarı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Güvenlik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Keycloak OAuth2 + TOTP 2FA + Spring Security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İzleme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OpenTelemetry + Prometheus + Grafana + OpenSearch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Veritabanı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PostgreSQL 16 + Redis 7 + Flyway migrasyon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04040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404040"/>
                          </a:solidFill>
                        </a:rPr>
                        <a:t>JUnit 5,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TestContainers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, Postman, k6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yük</a:t>
                      </a:r>
                      <a:r>
                        <a:rPr sz="1200" dirty="0">
                          <a:solidFill>
                            <a:srgbClr val="404040"/>
                          </a:solidFill>
                        </a:rPr>
                        <a:t> </a:t>
                      </a:r>
                      <a:r>
                        <a:rPr sz="1200" dirty="0" err="1">
                          <a:solidFill>
                            <a:srgbClr val="404040"/>
                          </a:solidFill>
                        </a:rPr>
                        <a:t>testi</a:t>
                      </a:r>
                      <a:endParaRPr sz="1200" dirty="0">
                        <a:solidFill>
                          <a:srgbClr val="40404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5532120"/>
            <a:ext cx="11338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Hedef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Türk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yatırımcılara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kurumsal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kalitede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ücretsiz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kaynaklarla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çalışan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AI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destekli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finansal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analiz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platformu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sz="1300" b="0" i="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sunmak</a:t>
            </a:r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88952" cy="548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Teşekkürler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698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2200" dirty="0">
                <a:solidFill>
                  <a:srgbClr val="BDD7EE"/>
                </a:solidFill>
              </a:rPr>
              <a:t>SAU-2026</a:t>
            </a:r>
            <a:endParaRPr sz="2200" b="0" i="0" dirty="0">
              <a:solidFill>
                <a:srgbClr val="BDD7E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989320"/>
            <a:ext cx="10698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9DC3E6"/>
                </a:solidFill>
              </a:rPr>
              <a:t>Pelinsu Kahraman   •   Sakarya </a:t>
            </a:r>
            <a:r>
              <a:rPr sz="1300" b="0" i="0" dirty="0" err="1">
                <a:solidFill>
                  <a:srgbClr val="9DC3E6"/>
                </a:solidFill>
              </a:rPr>
              <a:t>Üniversitesi</a:t>
            </a:r>
            <a:r>
              <a:rPr sz="1300" b="0" i="0" dirty="0">
                <a:solidFill>
                  <a:srgbClr val="9DC3E6"/>
                </a:solidFill>
              </a:rPr>
              <a:t>   •   Toyota Türkiye   •   </a:t>
            </a:r>
            <a:r>
              <a:rPr lang="tr-TR" sz="1300" dirty="0">
                <a:solidFill>
                  <a:srgbClr val="9DC3E6"/>
                </a:solidFill>
              </a:rPr>
              <a:t>Haziran</a:t>
            </a:r>
            <a:r>
              <a:rPr sz="1300" b="0" i="0" dirty="0">
                <a:solidFill>
                  <a:srgbClr val="9DC3E6"/>
                </a:solidFill>
              </a:rPr>
              <a:t>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1370</Words>
  <Application>Microsoft Office PowerPoint</Application>
  <PresentationFormat>Özel</PresentationFormat>
  <Paragraphs>272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Pelinsu Kahraman</cp:lastModifiedBy>
  <cp:revision>1</cp:revision>
  <dcterms:created xsi:type="dcterms:W3CDTF">2013-01-27T09:14:16Z</dcterms:created>
  <dcterms:modified xsi:type="dcterms:W3CDTF">2026-05-26T18:47:17Z</dcterms:modified>
  <cp:category/>
</cp:coreProperties>
</file>